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Supermarket shelf with detected produc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E-Cell IIT Bombay x Everseen  |  Computer Vision AI Hackathon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60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shelf auditing with trustworthy restock and displacement alerts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Shelf Auditing and Real-Time Stockouts. Submission: idea and prototype.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709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a glance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in 12 products is missing from the shelf at any moment. Most gaps start inside the store and are found too late.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per-slot shelf record ('twin') built from cameras. A temporal engine decides when to act, wait, or report that it cannot see.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 (YOLO), catalogue retrieval (DINOv2 + FAISS), OCR tie-breaks, planogram alignment, Bayesian evidence over frames.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temporal state engine. In simulation: 0.58 false alerts per camera-hour vs 1,019 for a single-frame detector, at full recall.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edge GPU box per store; existing CCTV, shelf cameras or phones; alerts on web, Telegram or WhatsApp.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263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ShelfTwin, SVNIT Surat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requirements</a:t>
            </a:r>
            <a:endParaRPr lang="en-US" sz="2500" dirty="0"/>
          </a:p>
        </p:txBody>
      </p:sp>
      <p:sp>
        <p:nvSpPr>
          <p:cNvPr id="3" name="PS box"/>
          <p:cNvSpPr/>
          <p:nvPr/>
        </p:nvSpPr>
        <p:spPr>
          <a:xfrm>
            <a:off x="457200" y="960120"/>
            <a:ext cx="4206240" cy="292608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(TRACK 1)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“Design and build an automated computer vision solution that processes real-time imagery from shelf-scanning cameras, compares it against a digital planogram, and automatically triggers immediate re-stock or displacement alerts the moment inventory thresholds drop or items are misplaced.”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69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given by the organisers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Human-led shelf audits are slow and error-prone.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catch stockouts or misplaced items in real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camera networks or roaming robots scan aisles continuously.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is compared with the store planogram to raise alerts for backroom staff.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683971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417320"/>
                <a:gridCol w="2286000"/>
                <a:gridCol w="27523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in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ShelfTwin meets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imagery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shelf cameras, CCTV or phone video continuously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pipeline at 0.5-2 frames/s per camera; change-triggered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which product belongs in each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layout; per-row sequence alignment of detections to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 when a slot runs low, not only when 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coverage states; adaptive low-stock threshold; 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a product in the wrong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match with abstention; identity kept separate from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staff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person gets a clear task fast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tasks with photos, stock location, reason, and camera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(our addition)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waste time and teach staff to ignore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evidence engine with an explicit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facts: shelf gaps are frequent, costly, and mostly caused in-store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out-of-stock rate across 661 outlets in a worldwide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Out-of-stock rate for fast-moving and promoted items, which earn the most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70-75%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out-of-stocks caused by store practice: ordering, forecasting, shelving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 where the product is in the store but not on the shelf; a camera sees this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/ 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 who buy at another store / do not buy at all when the item is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yearly revenue lost by grocery retailers to out-of-stocks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or weekly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manual audit cycle; a fast mover can empty within an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8006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in Indian retail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stores keep a maintained digital planogram.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pack redesigns, regional variants and look-alike multipacks.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internet; tight hardware budgets; high staff turnover.</a:t>
            </a:r>
            <a:endParaRPr lang="en-US" sz="1200" dirty="0"/>
          </a:p>
        </p:txBody>
      </p:sp>
      <p:pic>
        <p:nvPicPr>
          <p:cNvPr id="6" name="Chart: root causes of out-of-stocks" descr="Chart: root causes of out-of-sto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5669280" cy="2596896"/>
          </a:xfrm>
          <a:prstGeom prst="rect">
            <a:avLst/>
          </a:prstGeom>
        </p:spPr>
      </p:pic>
      <p:pic>
        <p:nvPicPr>
          <p:cNvPr id="7" name="Chart: shopper response" descr="Chart: shopper respon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703320"/>
            <a:ext cx="5669280" cy="168249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5486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charts: worldwide averages across 661 outlets. Responses vary by category.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6035040" y="58978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implication: the store can fix most gaps itself, if it learns about them early and trusts the signal.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breakdown: pain points and our response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600200"/>
                <a:gridCol w="1965960"/>
                <a:gridCol w="4142232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is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Gaps are found hours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sales for the full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Continuous, change-triggered analysis; alert within seconds of confirmed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'empty' is detected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empties during peak 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Low-stock state, adaptive threshold, time-to-empty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from shoppers, staff, glare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are ignored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evidence across frames;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maintained digital planogram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Indian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systems cannot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drafted from shelf tags and stable views; manager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seasonal and look-alike packs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product, wrong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retrieval with abstention; add a product with 3-5 photos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in backroom, not on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Avoidable empty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rack camera; pick location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Misplaced and abandoned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cold 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sale; spoiled chilled food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alignment; displacement and cold-chain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proof that the shelf was fixed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gap stays 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closes only on camera or photo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hardware, weak internet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and mid-size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cannot be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CCTV and phones; all inference runs offline in the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of availability over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causes stay hidden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history: time empty, time to fix, repeat offenders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approaches and the gap we address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103120"/>
                <a:gridCol w="2148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/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well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this problem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audits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hardware; staff know the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infrequent, error-prone; no time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Shelf-scanning robots (e.g. Simbe Tally)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Whole-store scans several times a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cost; periodic, not continuous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detection: 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every pack in crowded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identity; single 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Counting: 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Localises and counts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image; no expected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matching: Unitail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pack text to match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only; no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compliance (YOLOv8)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compliance in 7,000+ 7-Eleven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digital planogram; 471 fixed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vision platforms (e.g. Everseen)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 cameras; shelf and loss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adds a trusted, verified slot 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ap box"/>
          <p:cNvSpPr/>
          <p:nvPr/>
        </p:nvSpPr>
        <p:spPr>
          <a:xfrm>
            <a:off x="457200" y="5029200"/>
            <a:ext cx="6675120" cy="14630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ShelfTwin addresses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54406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over time, with explicit uncertainty, instead of per-frame alerts.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an approved layout when no digital planogram exists.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product catalogue that abstains, and a task loop closed by camera proof.</a:t>
            </a:r>
            <a:endParaRPr lang="en-US" sz="1150" dirty="0"/>
          </a:p>
        </p:txBody>
      </p:sp>
      <p:pic>
        <p:nvPicPr>
          <p:cNvPr id="7" name="Figure: SKU-110K qualitative detections" descr="Figure: SKU-110K qualitative det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960120"/>
            <a:ext cx="4370832" cy="4434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544068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results on real shelves, including a shopper blocking the shelf (panel c).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59436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no longer the bottleneck. Turning detections into trusted actions 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 ShelfTwin pipeline</a:t>
            </a:r>
            <a:endParaRPr lang="en-US" sz="2500" dirty="0"/>
          </a:p>
        </p:txBody>
      </p:sp>
      <p:pic>
        <p:nvPicPr>
          <p:cNvPr id="3" name="Figure: ShelfTwin pipeline with real intermediate outputs" descr="Figure: ShelfTwin pipeline with real intermediate out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11064240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See and clean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from shelf cameras, CCTV or phone video.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Blur, glare and exposure checks reject bad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segmenter builds a visibility mask.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24912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Detect and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724912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detector finds packs and gaps.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edges give a homography to shelf coordinates.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assigned to a planogram slot.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992624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992624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crops are embedded (DINOv2, metric-tuned).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 in the store catalogue (FAISS).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 between top matches gives 'unknown'.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260336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Decide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60336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Per-slot log-odds evidence, weighted by visibility.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decays; contradicting views subtract.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ACT, WAIT or CANNOT SEE.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528048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Act and verify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528048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task: product, slot, quantity, stock location.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before/after crops and the reason.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only when clean views show the slot full.</a:t>
            </a:r>
            <a:endParaRPr lang="en-US" sz="1100" dirty="0"/>
          </a:p>
        </p:txBody>
      </p:sp>
      <p:sp>
        <p:nvSpPr>
          <p:cNvPr id="14" name="Twin box"/>
          <p:cNvSpPr/>
          <p:nvPr/>
        </p:nvSpPr>
        <p:spPr>
          <a:xfrm>
            <a:off x="457200" y="5760720"/>
            <a:ext cx="11277295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5760720"/>
            <a:ext cx="110029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slot we store location, expected product (approved layout version), last trusted observation, state (HEALTHY, LOW, EMPTY, MISPLACED, CANNOT SEE), separate detection / identity / visibility / event confidences, and the full history of state changes linked to the frames that caused them. Any alert can be replayed.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components and deployment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263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63240"/>
                <a:gridCol w="868680"/>
                <a:gridCol w="868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capture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RTSP/USB readers; hardware video decode (GStreamer)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0.5-2 fps per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and change gate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Laplacian blur, glare ratio, frame differencing 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Person/cart instance segmentation (YOLO-seg, small)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 (n/s), two classes, 2 tiles per 1080p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lines, homography to shelf cm, slot assignment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camera 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+ ArcFace head; FAISS k-NN; margin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tag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PaddleOCR (mobile); barcode reader for shelf tags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Needleman-Wunsch alignment with position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row update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log-odds, decay, hysteresis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ranking, routing, verification, escalation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store and replay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object store for masked crops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dashboard; staff web app; Telegram/WhatsApp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989320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box: NVIDIA Jetson Orin-class (Orin Nano Super, 67 sparse INT8 TOPS), models exported to ONNX/TensorRT (FP16/INT8). Video stays in the store; only events and masked crops are sent out.</a:t>
            </a:r>
            <a:endParaRPr lang="en-US" sz="1000" dirty="0"/>
          </a:p>
        </p:txBody>
      </p:sp>
      <p:pic>
        <p:nvPicPr>
          <p:cNvPr id="5" name="Figure: store floor plan with cameras and edge box" descr="Figure: store floor plan with cameras and edge 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60120"/>
            <a:ext cx="4828032" cy="331012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03720" y="4389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4709160"/>
            <a:ext cx="4828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stream to one in-store edge box over PoE.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box runs the full pipeline and keeps a local task queue.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sync to the cloud twin when the internet is available.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receive tasks on the store Wi-Fi web app or messaging apps.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 and rules are versioned and updated in stages.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1: dense pack and gap detection, mapped to shelf slots</a:t>
            </a:r>
            <a:endParaRPr lang="en-US" sz="2500" dirty="0"/>
          </a:p>
        </p:txBody>
      </p:sp>
      <p:pic>
        <p:nvPicPr>
          <p:cNvPr id="3" name="Figure: SKU-110K detection architecture" descr="Figure: SKU-110K detection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85216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450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with a Soft-IoU layer and EM-merger to resolve overlapping boxes.</a:t>
            </a:r>
            <a:endParaRPr lang="en-US" sz="900" dirty="0"/>
          </a:p>
        </p:txBody>
      </p:sp>
      <p:pic>
        <p:nvPicPr>
          <p:cNvPr id="5" name="Chart: YOLO accuracy versus latency" descr="Chart: YOLO accuracy versus laten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585216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37667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latency of recent YOLO versions (COCO, T4 GPU, TensorRT). We choose small variants for the edge.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8521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YOLO models reach 45-48 COCO mAP at about 2-3 ms on a T4 GPU, which leaves headroom for many cameras per edge box.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537960" y="9601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design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128016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'pack' class plus an explicit 'gap' class (visible shelf back).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SKU-110K (11,762 images, 147 objects per image on average).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our own store footage and rendered shelves.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frames are split into two 640 px tiles so small packs stay detectable.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Soft-NMS / box merging handles tightly packed, overlapping facings.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3337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pixels to slots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365760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Shelf-edge lines are detected per bay.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homography maps image points to shelf coordinates in centimetres.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assigned to a slot by its centre and width.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coverage = share of the slot face covered by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drift is detected by feature matching to a reference frame; alerts pause until recalibration.</a:t>
            </a:r>
            <a:endParaRPr lang="en-US" sz="1100" dirty="0"/>
          </a:p>
        </p:txBody>
      </p:sp>
      <p:sp>
        <p:nvSpPr>
          <p:cNvPr id="12" name="Occlusion box"/>
          <p:cNvSpPr/>
          <p:nvPr/>
        </p:nvSpPr>
        <p:spPr>
          <a:xfrm>
            <a:off x="6537960" y="5715000"/>
            <a:ext cx="5193792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75120" y="5715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mask gives each slot a visibility score (0-1). Hidden slots are never marked empty; their evidence is down-weighted instead.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2: product identity by catalogue retrieval, with abstention</a:t>
            </a:r>
            <a:endParaRPr lang="en-US" sz="2500" dirty="0"/>
          </a:p>
        </p:txBody>
      </p:sp>
      <p:pic>
        <p:nvPicPr>
          <p:cNvPr id="3" name="Figure: catalogue matching for a known and a new pack" descr="Figure: catalogue matching for a known and a new p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66928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307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pack crops. Product names and similarity scores are illustrative.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9260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backbone + ArcFace metric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features for fine-grained packs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inner-product index over the store catalogue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k-NN for thousands of SKUs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if top score ≥ 0.75 and margin to runner-up ≥ 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instead of guessing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Tie-break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text overlap: brand, flavour, weight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 look-alike variants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crops go to an inbox; staff label once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grows with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960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retrieval instead of a fixed classifier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280160"/>
            <a:ext cx="5330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add and change products every week. A fixed classifier must be retrained each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retrieval, a new product is one catalogue entry: 3-5 photos and its barcode. No retraining.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uses hard negatives from the same brand, so variants are pushed apart in feature space.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studio pack shots and shelf crops are used, so the catalogue matches real shelf views.</a:t>
            </a:r>
            <a:endParaRPr lang="en-US" sz="1150" dirty="0"/>
          </a:p>
        </p:txBody>
      </p:sp>
      <p:pic>
        <p:nvPicPr>
          <p:cNvPr id="8" name="Eq identity" descr="Equation: ident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10128"/>
            <a:ext cx="5043830" cy="2450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0" y="3657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kept separate from location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6400800" y="3977640"/>
            <a:ext cx="5330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expected product of a slot never boosts the match score.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consistency is a separate signal used only by the decision step.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misplaced pack is not 'corrected' into the expected product, so displacement stays visible.</a:t>
            </a:r>
            <a:endParaRPr lang="en-US" sz="1150" dirty="0"/>
          </a:p>
        </p:txBody>
      </p:sp>
      <p:sp>
        <p:nvSpPr>
          <p:cNvPr id="11" name="Onboard box"/>
          <p:cNvSpPr/>
          <p:nvPr/>
        </p:nvSpPr>
        <p:spPr>
          <a:xfrm>
            <a:off x="6400800" y="5532120"/>
            <a:ext cx="5330952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37960" y="55321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 new product: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crop appears in the manager inbox; staff scan the barcode and take 3-5 photos; embeddings are computed and pushed to every store index within a minute.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3: planogram comparison, restock and displacement alerts</a:t>
            </a:r>
            <a:endParaRPr lang="en-US" sz="2500" dirty="0"/>
          </a:p>
        </p:txBody>
      </p:sp>
      <p:pic>
        <p:nvPicPr>
          <p:cNvPr id="3" name="Figure: planogram comparison on a real shelf photo" descr="Figure: planogram comparison on a real shelf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expected layout comes from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5262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Imported: the store's planogram file (CSV/JSON: bay, shelf, x, width, SKU, facings).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Drafted: shelf-tag barcodes/OCR plus stable observations over the first days.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Approved: a manager confirms per bay; only approved versions drive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draft and approved layouts stay separate, so a messy shelf is never learned as correct.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simultaneous mismatches in one bay trigger a single 'layout changed?' question, not dozens of alerts.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alignment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330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slots and observed packs per row are aligned (Needleman-Wunsch).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match, gap (restock), substitution (displacement) or insertion (foreign item).</a:t>
            </a:r>
            <a:endParaRPr lang="en-US" sz="1100" dirty="0"/>
          </a:p>
        </p:txBody>
      </p:sp>
      <p:pic>
        <p:nvPicPr>
          <p:cNvPr id="8" name="Eq align" descr="Equation: al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38528"/>
            <a:ext cx="3457956" cy="59740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743200"/>
          <a:ext cx="53309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16733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Routed 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below the slot's threshold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batched per aisle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empty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in the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staff,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sits in another product's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Chilled item seen on an ambient shelf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top priority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for hours while stock system shows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400800" y="5349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low-stock threshold</a:t>
            </a:r>
            <a:endParaRPr lang="en-US" sz="1400" dirty="0"/>
          </a:p>
        </p:txBody>
      </p:sp>
      <p:pic>
        <p:nvPicPr>
          <p:cNvPr id="11" name="Eq threshold" descr="Equation: thresho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669280"/>
            <a:ext cx="1918106" cy="313792"/>
          </a:xfrm>
          <a:prstGeom prst="rect">
            <a:avLst/>
          </a:prstGeom>
        </p:spPr>
      </p:pic>
      <p:pic>
        <p:nvPicPr>
          <p:cNvPr id="12" name="Eq thrleg" descr="Equation: thrl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687568"/>
            <a:ext cx="297942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4: temporal state engine (core contribution)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each slot like a cell in an occupancy grid: every observation adds or removes evidence, weighted by how well the slot was seen.</a:t>
            </a:r>
            <a:endParaRPr lang="en-US" sz="1150" dirty="0"/>
          </a:p>
        </p:txBody>
      </p:sp>
      <p:sp>
        <p:nvSpPr>
          <p:cNvPr id="4" name="Equation box"/>
          <p:cNvSpPr/>
          <p:nvPr/>
        </p:nvSpPr>
        <p:spPr>
          <a:xfrm>
            <a:off x="457200" y="1508760"/>
            <a:ext cx="512064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pic>
        <p:nvPicPr>
          <p:cNvPr id="5" name="Eq evidence" descr="Equation: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27632"/>
            <a:ext cx="2742514" cy="304724"/>
          </a:xfrm>
          <a:prstGeom prst="rect">
            <a:avLst/>
          </a:prstGeom>
        </p:spPr>
      </p:pic>
      <p:pic>
        <p:nvPicPr>
          <p:cNvPr id="6" name="Eq ell" descr="Equation: 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2770632" cy="597408"/>
          </a:xfrm>
          <a:prstGeom prst="rect">
            <a:avLst/>
          </a:prstGeom>
        </p:spPr>
      </p:pic>
      <p:pic>
        <p:nvPicPr>
          <p:cNvPr id="7" name="Eq evleg" descr="Equation: ev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97480"/>
            <a:ext cx="4692929" cy="633679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5120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(starting 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(open a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≥ 4.0, about 3 clean confirming views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(verify a refill)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≤ −1.0 after the task is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Hysteresis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enter and exit thresholds stop flicker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 shown in 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clean view for more than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 ≤ L ≤ 8, so old states can be overturned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3"/>
          <p:cNvSpPr txBox="1"/>
          <p:nvPr/>
        </p:nvSpPr>
        <p:spPr>
          <a:xfrm>
            <a:off x="457200" y="55778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frame can never trigger a task alone.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logged with its inputs, so any alert can be replayed and audited.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are tuned per store on recorded footage, not fixed by hand.</a:t>
            </a:r>
            <a:endParaRPr lang="en-US" sz="1050" dirty="0"/>
          </a:p>
        </p:txBody>
      </p:sp>
      <p:pic>
        <p:nvPicPr>
          <p:cNvPr id="10" name="Chart: evidence trace for one slot from the prototype" descr="Chart: evidence trace for one slot from the prototy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914400"/>
            <a:ext cx="5925312" cy="264261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806440" y="3584448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output for one slot over 30 minutes. Top: per-frame coverage; grey bands show a shopper blocking. Bottom: evidence L(t). The single-frame detector alerts 17 times; the engine alerts once, when stock really runs low, and clears after the refill.</a:t>
            </a:r>
            <a:endParaRPr lang="en-US" sz="9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4389120"/>
          <a:ext cx="592531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86000"/>
                <a:gridCol w="2359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is solid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task with photos and 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seen, evidence still weak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yet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blocked or frame unusable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trusted state and its 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verified full again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marked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temporal engine evaluated against baselines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777240"/>
                <a:gridCol w="685800"/>
                <a:gridCol w="822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alerts / camera-hour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95th pct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1019.33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 +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vote 3 of 5 +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simulated observations for every method: 20 runs x 8 hours, 24 slots per camera, 1,357 true restock events. A correct alert fires while 2 or fewer units remain.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assumptions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every 2 s; shoppers take 0.5-6 units per slot per hour (Poisson).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each slot about 25 times per hour for 2-30 s; the detector sees a 'gap' 70% of that time.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mask misses 5% of blocking events entirely; 1% of clean frames read a false gap (glare).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refill 10-40 minutes after a slot needs restock, identically for every method.</a:t>
            </a:r>
            <a:endParaRPr lang="en-US" sz="1100" dirty="0"/>
          </a:p>
        </p:txBody>
      </p:sp>
      <p:sp>
        <p:nvSpPr>
          <p:cNvPr id="7" name="Honest note"/>
          <p:cNvSpPr/>
          <p:nvPr/>
        </p:nvSpPr>
        <p:spPr>
          <a:xfrm>
            <a:off x="457200" y="5852160"/>
            <a:ext cx="640080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58521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test the decision logic on simulated detector outputs. Real-camera accuracy will be measured in the final build. The engine trades about 12 s of extra delay for a 99.9% cut in false alerts.</a:t>
            </a:r>
            <a:endParaRPr lang="en-US" sz="1050" dirty="0"/>
          </a:p>
        </p:txBody>
      </p:sp>
      <p:pic>
        <p:nvPicPr>
          <p:cNvPr id="9" name="Chart: false alerts per camera-hour by method" descr="Chart: false alerts per camera-hour by meth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645152" cy="21579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324612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code (built)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3566160"/>
            <a:ext cx="4645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engine.py: temporal state engine and two baselines (single-frame, majority vote).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simulate.py: store-shelf simulator with shoppers, glare, mask misses and refills.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figures.py: evidence traces and comparison charts from real runs.</a:t>
            </a:r>
            <a:endParaRPr lang="en-US" sz="1100" dirty="0"/>
          </a:p>
        </p:txBody>
      </p:sp>
      <p:sp>
        <p:nvSpPr>
          <p:cNvPr id="12" name="Repo box"/>
          <p:cNvSpPr/>
          <p:nvPr/>
        </p:nvSpPr>
        <p:spPr>
          <a:xfrm>
            <a:off x="7086600" y="4892040"/>
            <a:ext cx="4645152" cy="1618488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5010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5285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github.com/&lt;team&gt;/shelftwin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71500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the engine, simulator, figures and set-up steps. Run: python simulate.py 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workflow: every alert says what, where, why, and is verified</a:t>
            </a:r>
            <a:endParaRPr lang="en-US" sz="2500" dirty="0"/>
          </a:p>
        </p:txBody>
      </p:sp>
      <p:pic>
        <p:nvPicPr>
          <p:cNvPr id="3" name="Mock-up of the staff alert" descr="Mock-up of the staff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the staff alert. Real shelf crops; the gap is simulated.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760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web app on store Wi-Fi (works offline), Telegram, WhatsApp.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Hindi and Gujarati in the final build.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'Wrong alert' taps become labelled training data.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14400"/>
          <a:ext cx="59253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4048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Entered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outputs 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tap 'I am on it'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accept the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check in at the bay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at bay + app check-in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views show slot full (CLEAR)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or photo confirms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state; time-to-fix recorded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Reopened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still empty after time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to Open with a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06440" y="388620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</a:t>
            </a:r>
            <a:endParaRPr lang="en-US" sz="1400" dirty="0"/>
          </a:p>
        </p:txBody>
      </p:sp>
      <p:pic>
        <p:nvPicPr>
          <p:cNvPr id="8" name="Eq priority" descr="Equation: prior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87952"/>
            <a:ext cx="2712263" cy="271424"/>
          </a:xfrm>
          <a:prstGeom prst="rect">
            <a:avLst/>
          </a:prstGeom>
        </p:spPr>
      </p:pic>
      <p:pic>
        <p:nvPicPr>
          <p:cNvPr id="9" name="Eq prileg" descr="Equation: pri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572000"/>
            <a:ext cx="5557266" cy="44378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806440" y="51206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Alert-fatigue controls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5806440" y="54406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and cold-chain tasks go at once; low-stock tasks batch every 15 minutes per aisle.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has a cap on open tasks; extra tasks queue nearest-first.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'Snooze with reason' (e.g. delivery due at 16:00); unanswered tasks escalate after 10 minutes.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strategy: no dependence on organiser-provided data</a:t>
            </a:r>
            <a:endParaRPr lang="en-US" sz="2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23160"/>
                <a:gridCol w="1965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11,762 dense shelf images, 1.73M boxes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detector pre-training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50,394 images, 1.9M instances, 140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and robustness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 SKUs, about 500k product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learning for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Retail-786k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786k images, 3,298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training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Unitail-OCR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 products, 30k text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text 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store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and camera video of local stores, with permission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Fine-tuning, catalogue, test 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Shelves rendered from our pack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events: gaps, misplacement, glare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without hand-drawing every box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Open-vocabulary teachers (Grounding DINO, SAM 2) propose boxes and masks.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kept only where two teachers agree; a sample is checked by hand.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feedback ('wrong alert', unknown-pack labels) becomes new training data.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edited images are used for training only, never for testing.</a:t>
            </a:r>
            <a:endParaRPr lang="en-US" sz="1150" dirty="0"/>
          </a:p>
        </p:txBody>
      </p:sp>
      <p:pic>
        <p:nvPicPr>
          <p:cNvPr id="6" name="Table: SKU-110K compared with other detection datasets" descr="Table: SKU-110K compared with other detection datas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960120"/>
            <a:ext cx="5148072" cy="19751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0" y="2962656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SKU-110K has about 147 objects per image, far denser than COCO (7.7). </a:t>
            </a:r>
            <a:endParaRPr lang="en-US" sz="900" dirty="0"/>
          </a:p>
        </p:txBody>
      </p:sp>
      <p:pic>
        <p:nvPicPr>
          <p:cNvPr id="8" name="Rendered synthetic shelf" descr="Rendered synthetic shel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429000"/>
            <a:ext cx="2514600" cy="1417320"/>
          </a:xfrm>
          <a:prstGeom prst="rect">
            <a:avLst/>
          </a:prstGeom>
        </p:spPr>
      </p:pic>
      <p:pic>
        <p:nvPicPr>
          <p:cNvPr id="9" name="Figure: Grounding DINO open-set detection" descr="Figure: Grounding DINO open-set dete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2" y="3429000"/>
            <a:ext cx="2514600" cy="1399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583680" y="48920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rendered synthetic shelf. Right: open-set detection by Grounding DINO.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6583680" y="525780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splits that prevent over-optimism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577840"/>
            <a:ext cx="5148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sessions; unseen days and lighting; unseen stores.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cases: look-alikes, multipacks, old vs new packs, half-hidden packs.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feasibility and scalability</a:t>
            </a:r>
            <a:endParaRPr lang="en-US" sz="2500" dirty="0"/>
          </a:p>
        </p:txBody>
      </p:sp>
      <p:pic>
        <p:nvPicPr>
          <p:cNvPr id="3" name="Chart: per-frame latency budget" descr="Chart: per-frame latency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2505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438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 for the final build; to be measured on hardware.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2331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46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budget above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 capacity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20 frames/s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ms / 46 ms, with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Cameras per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0.5-1 frame/s per camera, change-gated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200 MB/day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+ masked crops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TB SSD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replay buffer +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gating: heavy models run only on bays whose pixels changed, so quiet aisles cost almost nothing.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234440"/>
            <a:ext cx="5330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are open-source and proven on edge GPUs (YOLO, DINOv2-S, PaddleOCR mobile).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three camera types; existing CCTV gives bay-level alerts at zero hardware cost.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planogram, no inventory system and no internet are required to start.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set-up: mount cameras, walk each aisle once, approve the drafted layout.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00800" y="3200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3520440"/>
            <a:ext cx="5330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scales per store, so head-office cost grows slowly.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product catalogue; each store loads only its own range.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catalogue, layouts and rules are versioned separately, rolled out to 1%, 10%, then all stores, with automatic rollback.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cloud (row-level security) or private deployment for large chains.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twin extends to pharmacies, dark stores and warehouses.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53212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13990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Bay-level gaps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Product-level, 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walk-through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 snapshots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and return on investment (mid-size Indian supermarket)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86868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GPU box, installed (Jetson Orin class, case, SSD, UPS)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camera, installed (incl. cabling, mount)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6,000-12,000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1.2-2.4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PoE switch and network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 reuse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1.9-3.5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twin, storage,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15,000-30,000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subscription and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(10-15% of hardware)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estimates; to be confirmed with supplier quotes. Phone-only and CCTV-only modes need no new hardware.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levers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cameras only on the 20-30% of bays that carry most sales; CCTV or phones elsewhere.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 lets one box serve more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can be leased inside the subscription to remove upfront cost.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9601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28016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10 crore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to out-of-stocks (3-4%)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30-40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Recovered (assume 25-50%)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7.5-20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 20-25%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1.5-5 lakh profit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staff hours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 replaced by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6-24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4206240"/>
            <a:ext cx="4325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share is an assumption. Vendor case studies report on-shelf availability gains of 25-60%, which a pilot must confirm for Indian stores.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06640" y="498348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value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06640" y="5303520"/>
            <a:ext cx="4325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shelf data improves ordering.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price and placement errors.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compliance data with consent.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 and limitations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video never leaves the store.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hands, phones and badges are masked in every saved crop.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no re-identification, no tracking of people.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kept 30 days by default; replay frames 72 hours.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metrics are team-level, not individual.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is reviewed under India's DPDP Act 2023 and Rules 2025.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 makes outbound connections only; no open ports.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TLS between store and cloud; per-device certificates.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model and software updates; secure boot.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disks; role-based access; every crop view logged.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network isolated on its own VLAN.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96012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version 1 does not claim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280160"/>
            <a:ext cx="35021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unit counts or store-wide inventory.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planogram changes or ordering.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separation of near-identical packs (it abstains).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Product-level identity from wide ceiling CCTV.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depletion is not called 'sales' without billing data.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651760"/>
                <a:gridCol w="3319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store?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see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(memory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Nobody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frames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admin, on request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crops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with events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and task records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and system telemetry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status and the planned final build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7406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prototype 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for the final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 in simulation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on real footage; per-store thresholds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 and simulator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(single-frame, majority vote)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with recorded real detections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and model choice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 fine-tuned on own footage; TensorRT on 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Person/cart segmentation feeding the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and thresholds defined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+ ArcFace catalogue, FAISS, OCR tie-break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alignment, layout drafting and approval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and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and alert design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app, Telegram/WhatsApp, verification loop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shelf view, history, replay of any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camera; pick location in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defined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estimate from depletion and billing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92440" y="96012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build: what it will show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1280160"/>
            <a:ext cx="36393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 with 60-80 real Indian SKUs and 3-4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views; the baseline raises false alerts while ShelfTwin waits.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low-stock alert in Hindi names the backroom rack.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refill is verified by the camera and the task closes.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pack is flagged 'unknown' and added in a minute.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8404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we will report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4160520"/>
            <a:ext cx="3639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precision and recall per episode.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camera-hour.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notification delay.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'unknown' rate on new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per box at full speed.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5440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risks and mitigation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576072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packs: abstain and ask staff.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CCTV: bay-level alerts only.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moved: drift check pauses alerts.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W. Gruen, D. S. Corsten, S. Bharadwaj. Retail Out-of-Stocks: A Worldwide Examination of Extent, Causes and Consumer Responses. Grocery Manufacturers of America, 2002.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D. Corsten, T. Gruen. Desperately seeking shelf availability: an examination of the extent, the causes, and the efforts to address retail out-of-stocks. IJRDM 31(12), 2003.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E. Goldman, R. Herzig, A. Eisenschtat, J. Goldberger, T. Hassner. Precise Detection in Densely Packed Scenes (SKU-110K).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Y. Cai et al. Rethinking Object Detection in Retail Stores (Locount). AAAI 2021.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Chen et al. Unitail: Detecting, Reading, and Matching in Retail Scene. ECCV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J. Peng, C. Xiao, Y. Li. RP2K: A Large-Scale Retail Product Dataset for Fine-Grained Image Classification. arXiv:2006.12634, 2020.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B. Lamm, J. Keuper. Retail-786k: a Large-Scale Dataset for Visual Entity Matching. arXiv:2309.17164,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T.-Y. Ou, A. Ponce, C. Lee, A. Wu. Real-time retail planogram compliance application using computer vision and virtual shelves. Scientific Reports 15, 43898, 2025.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M. Oquab et al. DINOv2: Learning Robust Visual Features without Supervision. TMLR,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G. Jocher et al. Ultralytics YOLO (YOLOv8, YOLO11, YOLO26). Software and benchmarks, github.com/ultralytics/ultralytics.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J. Deng, J. Guo, N. Xue, S. Zafeiriou. ArcFace: Additive Angular Margin Loss for Deep Face Recognition.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Johnson, M. Douze, H. Jegou. Billion-scale similarity search with GPUs (FAISS). IEEE Trans. Big Data, 2019.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B. Needleman, C. D. Wunsch. A general method applicable to the search for similarities in the amino acid sequence of two proteins. J. Mol. Biol. 48(3), 1970.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H. Moravec, A. Elfes. High resolution maps from wide angle sonar. IEEE ICRA, 1985.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S. Liu et al. Grounding DINO: Marrying DINO with Grounded Pre-Training for Open-Set Object Detection. ECCV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Y. Du et al. PP-OCR: A Practical Ultra Lightweight OCR System. arXiv:2009.09941, 2020 (PaddleOCR).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Neurolabs. CPGDet-129: Synthetic Dataset for Object Detection in Retail. github.com/neurolaboratories/reshelf-detection,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M. Denninger et al. BlenderProc2: A Procedural Pipeline for Photorealistic Rendering. JOSS 8(82),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 NVIDIA. Jetson Orin Nano Developer Kit Gets a Super Boost. NVIDIA Technical Blog, December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 N. Ravi et al. SAM 2: Segment Anything in Images and Videos. arXiv:2408.00714,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 Simbe Robotics. Wakefern Food Corp. customer story (on-shelf availability results). simberobotics.com, accessed 2026.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 Everseen. Evershelf product page; Everseen expanded product suite incl. Everstock (press release, Jan 2023).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 Ministry of Electronics and IT, Government of India. Digital Personal Data Protection Rules, 2025 (notified November 2025).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elfTwin Submission">
  <a:themeElements>
    <a:clrScheme name="ShelfTwin Submission">
      <a:dk1>
        <a:srgbClr val="141414"/>
      </a:dk1>
      <a:lt1>
        <a:srgbClr val="FFFFFF"/>
      </a:lt1>
      <a:dk2>
        <a:srgbClr val="141414"/>
      </a:dk2>
      <a:lt2>
        <a:srgbClr val="F3F4F6"/>
      </a:lt2>
      <a:accent1>
        <a:srgbClr val="141414"/>
      </a:accent1>
      <a:accent2>
        <a:srgbClr val="808080"/>
      </a:accent2>
      <a:accent3>
        <a:srgbClr val="404040"/>
      </a:accent3>
      <a:accent4>
        <a:srgbClr val="404040"/>
      </a:accent4>
      <a:accent5>
        <a:srgbClr val="5E5E5E"/>
      </a:accent5>
      <a:accent6>
        <a:srgbClr val="3A3A3A"/>
      </a:accent6>
      <a:hlink>
        <a:srgbClr val="141414"/>
      </a:hlink>
      <a:folHlink>
        <a:srgbClr val="141414"/>
      </a:folHlink>
    </a:clrScheme>
    <a:fontScheme name="ShelfTwin Submiss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ShelfTwin</dc:title>
  <dc:subject>PptxGenJS Presentation</dc:subject>
  <dc:creator>Team ShelfTwin, SVNIT Surat</dc:creator>
  <cp:lastModifiedBy>Team ShelfTwin, SVNIT Surat</cp:lastModifiedBy>
  <cp:revision>1</cp:revision>
  <dcterms:created xsi:type="dcterms:W3CDTF">2026-10-07T16:32:34Z</dcterms:created>
  <dcterms:modified xsi:type="dcterms:W3CDTF">2026-10-07T16:32:34Z</dcterms:modified>
</cp:coreProperties>
</file>