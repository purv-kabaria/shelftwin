
<file path=[Content_Types].xml><?xml version="1.0" encoding="utf-8"?>
<Types xmlns="http://schemas.openxmlformats.org/package/2006/content-types">
  <Default Extension="jpg" ContentType="image/jpeg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26"/>
    <p:sldId id="276" r:id="rId27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41414"/>
                </a:solidFill>
                <a:latin typeface="Calibri"/>
              </a:rPr>
              <a:t>Share of packs smaller than 16 px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</c:spPr>
          </c:dPt>
          <c:dPt>
            <c:idx val="1"/>
            <c:spPr>
              <a:solidFill>
                <a:srgbClr val="7F7F7F"/>
              </a:solidFill>
            </c:spPr>
          </c:dPt>
          <c:dPt>
            <c:idx val="2"/>
            <c:spPr>
              <a:solidFill>
                <a:srgbClr val="141414"/>
              </a:solidFill>
            </c:spPr>
          </c:dPt>
          <c:cat>
            <c:strRef>
              <c:f>Sheet1!$A$2:$A$4</c:f>
              <c:strCache>
                <c:ptCount val="3"/>
                <c:pt idx="0">
                  <c:v>640 px</c:v>
                </c:pt>
                <c:pt idx="1">
                  <c:v>896 px</c:v>
                </c:pt>
                <c:pt idx="2">
                  <c:v>1024 px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0.4071648477919606</c:v>
                </c:pt>
                <c:pt idx="1">
                  <c:v>0.17702095308841154</c:v>
                </c:pt>
                <c:pt idx="2">
                  <c:v>0.11696529871426209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5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14141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41414"/>
                </a:solidFill>
                <a:latin typeface="Calibri"/>
              </a:rPr>
              <a:t>False alerts per camera-hour vs person-mask miss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ShelfTwin engine</c:v>
                </c:pt>
              </c:strCache>
            </c:strRef>
          </c:tx>
          <c:spPr>
            <a:ln w="25400">
              <a:solidFill>
                <a:srgbClr val="141414"/>
              </a:solidFill>
            </a:ln>
          </c:spPr>
          <c:marker>
            <c:spPr>
              <a:solidFill>
                <a:srgbClr val="141414"/>
              </a:solidFill>
              <a:ln>
                <a:solidFill>
                  <a:srgbClr val="141414"/>
                </a:solidFill>
              </a:ln>
            </c:spPr>
          </c:marker>
          <c:dLbls>
            <c:dLbl>
              <c:idx val="3"/>
              <c:tx>
                <c:rich>
                  <a:bodyPr/>
                  <a:lstStyle/>
                  <a:p>
                    <a:r>
                      <a:rPr sz="900" b="1"/>
                      <a:t>6.4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5%</c:v>
                </c:pt>
                <c:pt idx="2">
                  <c:v>15%</c:v>
                </c:pt>
                <c:pt idx="3">
                  <c:v>30%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1.0625</c:v>
                </c:pt>
                <c:pt idx="2">
                  <c:v>2.75</c:v>
                </c:pt>
                <c:pt idx="3">
                  <c:v>6.4375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Majority vote 3 of 5</c:v>
                </c:pt>
              </c:strCache>
            </c:strRef>
          </c:tx>
          <c:spPr>
            <a:ln w="25400">
              <a:solidFill>
                <a:srgbClr val="BFBFBF"/>
              </a:solidFill>
            </a:ln>
          </c:spPr>
          <c:marker>
            <c:spPr>
              <a:solidFill>
                <a:srgbClr val="BFBFBF"/>
              </a:solidFill>
              <a:ln>
                <a:solidFill>
                  <a:srgbClr val="BFBFBF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9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5%</c:v>
                </c:pt>
                <c:pt idx="2">
                  <c:v>15%</c:v>
                </c:pt>
                <c:pt idx="3">
                  <c:v>30%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0.375</c:v>
                </c:pt>
                <c:pt idx="1">
                  <c:v>12.25</c:v>
                </c:pt>
                <c:pt idx="2">
                  <c:v>33.875</c:v>
                </c:pt>
                <c:pt idx="3">
                  <c:v>67.8125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txPr>
    <a:bodyPr/>
    <a:lstStyle/>
    <a:p>
      <a:pPr>
        <a:defRPr sz="950">
          <a:solidFill>
            <a:srgbClr val="14141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41414"/>
                </a:solidFill>
                <a:latin typeface="Calibri"/>
              </a:rPr>
              <a:t>False alerts per camera-hour (log scale), 160 camera-hours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BFBFBF"/>
              </a:solidFill>
            </c:spPr>
          </c:dPt>
          <c:dPt>
            <c:idx val="3"/>
            <c:spPr>
              <a:solidFill>
                <a:srgbClr val="7F7F7F"/>
              </a:solidFill>
            </c:spPr>
          </c:dPt>
          <c:dPt>
            <c:idx val="4"/>
            <c:spPr>
              <a:solidFill>
                <a:srgbClr val="141414"/>
              </a:solidFill>
            </c:spPr>
          </c:dPt>
          <c:cat>
            <c:strRef>
              <c:f>Sheet1!$A$2:$A$6</c:f>
              <c:strCache>
                <c:ptCount val="5"/>
                <c:pt idx="0">
                  <c:v>Single-frame</c:v>
                </c:pt>
                <c:pt idx="1">
                  <c:v>Single-frame + mask</c:v>
                </c:pt>
                <c:pt idx="2">
                  <c:v>Majority vote 3 of 5</c:v>
                </c:pt>
                <c:pt idx="3">
                  <c:v>ShelfTwin (defaults)</c:v>
                </c:pt>
                <c:pt idx="4">
                  <c:v>ShelfTwin (tuned)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965.86</c:v>
                </c:pt>
                <c:pt idx="1">
                  <c:v>376.43</c:v>
                </c:pt>
                <c:pt idx="2">
                  <c:v>11.17</c:v>
                </c:pt>
                <c:pt idx="3">
                  <c:v>0.82</c:v>
                </c:pt>
                <c:pt idx="4">
                  <c:v>0.12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5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min"/>
        <c:auto val="1"/>
        <c:lblAlgn val="ctr"/>
        <c:lblOffset val="100"/>
        <c:noMultiLvlLbl val="0"/>
      </c:catAx>
      <c:valAx>
        <c:axId val="-2113994440"/>
        <c:scaling>
          <c:logBase val="10"/>
          <c:min val="0.01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14141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results/kaggle/eda/eda_sku110k.json, eda_rp2k.json, engine_analysis.json in the repo; produced by the public Kaggle notebook https://www.kaggle.com/code/purv2k2/notebook77852dc329.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results/kaggle/final_report.json, exp_detector.json, exp_gap.json, exp_embed.json, embedder/embedder_report.json, e2e_summary.json. Training log: https://www.kaggle.com/code/purv2k2/notebook77852dc329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Relationship Id="rId4" Type="http://schemas.openxmlformats.org/officeDocument/2006/relationships/hyperlink" Target="https://github.com/Purv-Kabaria/shelftwi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Relationship Id="rId4" Type="http://schemas.openxmlformats.org/officeDocument/2006/relationships/chart" Target="../charts/chart3.xml"/><Relationship Id="rId5" Type="http://schemas.openxmlformats.org/officeDocument/2006/relationships/hyperlink" Target="https://github.com/Purv-Kabaria/shelftwin" TargetMode="External"/><Relationship Id="rId6" Type="http://schemas.openxmlformats.org/officeDocument/2006/relationships/hyperlink" Target="https://www.kaggle.com/code/purv2k2/notebook77852dc329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photo" descr="Supermarket shelf with detected produc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51657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E-Cell IIT Bombay x Everseen  |  Computer Vision AI Hackathon 2026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ShelfTwin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shelf auditing with trustworthy restock and displacement alerts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Shelf Auditing and Real-Time Stockouts. Submission: idea and prototype.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5943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709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a glance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 in 12 products is missing from the shelf at any moment. Most gaps start inside the store and are found too late.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per-slot shelf record ('twin') built from cameras. A temporal engine decides when to act, wait, or report that it cannot see.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detection (YOLO), catalogue retrieval (DINOv2 + FAISS), OCR tie-breaks, planogram alignment, Bayesian evidence over frames.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prototype; code and trained models are public. In simulation: 0.12 false alerts per camera-hour vs 966 for a single-frame detector, at full recall.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edge GPU box per store; existing CCTV, shelf cameras or phones; alerts on web, Telegram or WhatsApp.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6263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ShelfTwin, SVNIT Surat   |   </a:t>
            </a:r>
            <a:r>
              <a:rPr sz="1100" b="0">
                <a:latin typeface="Calibri"/>
                <a:hlinkClick r:id="rId4"/>
              </a:rPr>
              <a:t>github.com/Purv-Kabaria/shelftwin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requirements</a:t>
            </a:r>
            <a:endParaRPr lang="en-US" sz="2500" dirty="0"/>
          </a:p>
        </p:txBody>
      </p:sp>
      <p:sp>
        <p:nvSpPr>
          <p:cNvPr id="3" name="PS box"/>
          <p:cNvSpPr/>
          <p:nvPr/>
        </p:nvSpPr>
        <p:spPr>
          <a:xfrm>
            <a:off x="457200" y="960120"/>
            <a:ext cx="4206240" cy="2926080"/>
          </a:xfrm>
          <a:prstGeom prst="rect">
            <a:avLst/>
          </a:prstGeom>
          <a:solidFill>
            <a:srgbClr val="F2F2F2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1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(TRACK 1)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“Design and build an automated computer vision solution that processes real-time imagery from shelf-scanning cameras, compares it against a digital planogram, and automatically triggers immediate re-stock or displacement alerts the moment inventory thresholds drop or items are misplaced.”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69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given by the organisers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891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shelf audits are slow and error-prone.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catch stockouts or misplaced items in real time.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camera networks or roaming robots scan aisles continuously.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 is compared with the store planogram to raise alerts for backroom staff.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960120"/>
          <a:ext cx="6839712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417320"/>
                <a:gridCol w="2286000"/>
                <a:gridCol w="275234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in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ShelfTwin meets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imagery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shelf cameras, CCTV or phone video continuously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pipeline at 0.5-2 frames/s per camera; change-triggered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Planogram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which product belongs in each slot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layout; per-row sequence alignment of detections to slots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 when a slot runs low, not only when empty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Per-slot coverage states; adaptive low-stock threshold; time-to-empty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Displacement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a product in the wrong slot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match with abstention; identity kept separate from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staff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right person gets a clear task 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tasks with photos, stock location, reason, and camera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(our addition)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 waste time and teach staff to ignore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evidence engine with an explicit 'cannot see'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facts: shelf gaps are frequent, costly, and mostly caused in-store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257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023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out-of-stock rate across 661 outlets in a worldwide study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Out-of-stock rate for fast-moving and promoted items, which earn the most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out-of-stocks caused by store practice: ordering, forecasting, shelving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 where the product is in the store but not on the shelf; a camera sees this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 / 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Shoppers who buy at another store / do not buy at all when the item is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yearly revenue lost by grocery retailers to out-of-stocks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or weekly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manual audit cycle; a fast mover can empty within an hour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00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harder in Indian retail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07492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stores keep a maintained digital planogram.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pack redesigns, regional variants and look-alike multipacks.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Patchy internet; tight hardware budgets; high staff turnover.</a:t>
            </a:r>
            <a:endParaRPr lang="en-US" sz="1200" dirty="0"/>
          </a:p>
        </p:txBody>
      </p:sp>
      <p:pic>
        <p:nvPicPr>
          <p:cNvPr id="6" name="Chart: root causes of out-of-stocks" descr="Chart: root causes of out-of-sto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14400"/>
            <a:ext cx="5669280" cy="2596896"/>
          </a:xfrm>
          <a:prstGeom prst="rect">
            <a:avLst/>
          </a:prstGeom>
        </p:spPr>
      </p:pic>
      <p:pic>
        <p:nvPicPr>
          <p:cNvPr id="7" name="Chart: shopper response" descr="Chart: shopper respon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703320"/>
            <a:ext cx="5669280" cy="168249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35040" y="5486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charts: worldwide averages across 661 outlets. Responses vary by category.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6035040" y="58978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implication: the store can fix most gaps itself, if it learns about them early and trusts the signal.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breakdown: pain points and our response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240280"/>
                <a:gridCol w="1600200"/>
                <a:gridCol w="1965960"/>
                <a:gridCol w="4142232"/>
                <a:gridCol w="960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affected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ShelfTwin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are found hours 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Shoppers,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sales for the full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change-triggered analysis; alert within seconds of confirmed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'empty' is detected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 empties during peak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Low-stock state, adaptive threshold, time-to-empty estimate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 from shoppers, staff, glare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are ignored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Visibility-weighted evidence across frames; 'cannot see'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maintained digital planogram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Indian stores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systems cannot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drafted from shelf tags and stable views; manager 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New, seasonal and look-alike packs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product, wrong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retrieval with abstention; add a product with 3-5 photos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in backroom, not on shelf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Backroom 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Avoidable empty shelf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Backroom rack camera; pick location in every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Misplaced and abandoned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Shoppers, cold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sale; spoiled chilled food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alignment; displacement and cold-chain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proof that the shelf was 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managers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gap stays 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closes only on camera or photo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Costly hardware, weak internet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and mid-size chains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cannot be deployed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CCTV and phones; all inference runs offline in the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record of availability over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managers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causes stay hidden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Per-slot history: time empty, time to fix, repeat offenders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and the gap we address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667512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2103120"/>
                <a:gridCol w="2148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 /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well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for this problem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audits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hardware; staff know the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infrequent, error-prone; no time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Shelf-scanning robots (e.g. Simbe Tally)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Whole-store scans several times a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cost; periodic, not continuous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detection: SKU-110K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every pack in crowded shelves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product identity; single 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Counting: Locount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Localises and counts product groups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image; no expected layout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matching: Unitail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pack text to match 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only; no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Planogram compliance (YOLOv8)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compliance in 7,000+ 7-Eleven stores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digital planogram; 471 fixed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vision platforms (e.g. Everseen)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Store-wide cameras; shelf and loss 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ShelfTwin adds a trusted, verified slot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Gap box"/>
          <p:cNvSpPr/>
          <p:nvPr/>
        </p:nvSpPr>
        <p:spPr>
          <a:xfrm>
            <a:off x="457200" y="5029200"/>
            <a:ext cx="6675120" cy="1463040"/>
          </a:xfrm>
          <a:prstGeom prst="rect">
            <a:avLst/>
          </a:prstGeom>
          <a:solidFill>
            <a:srgbClr val="F2F2F2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5120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ShelfTwin addresses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5440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over time, with explicit uncertainty, instead of per-frame alerts.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 approved layout when no digital planogram exists.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product catalogue that abstains, and a task loop closed by camera proof.</a:t>
            </a:r>
            <a:endParaRPr lang="en-US" sz="1150" dirty="0"/>
          </a:p>
        </p:txBody>
      </p:sp>
      <p:pic>
        <p:nvPicPr>
          <p:cNvPr id="7" name="Figure: SKU-110K qualitative detections" descr="Figure: SKU-110K qualitative dete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960120"/>
            <a:ext cx="4370832" cy="4434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60920" y="5440680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detection results on real shelves, including a shopper blocking the shelf (panel c).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7360920" y="594360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quality is no longer the bottleneck. Turning detections into trusted actions 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ShelfTwin pipeline</a:t>
            </a:r>
            <a:endParaRPr lang="en-US" sz="2500" dirty="0"/>
          </a:p>
        </p:txBody>
      </p:sp>
      <p:pic>
        <p:nvPicPr>
          <p:cNvPr id="3" name="Figure: ShelfTwin pipeline with real intermediate outputs" descr="Figure: ShelfTwin pipeline with real intermediate outpu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96112"/>
            <a:ext cx="11064240" cy="2514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See and clean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from shelf cameras, CCTV or phone video.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Blur, glare and exposure checks reject bad frames.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person/cart segmenter builds a visibility mask.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724912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 and map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724912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Class-agnostic detector finds packs and gaps.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edges give a homography to shelf coordinates.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detection is assigned to a planogram slot.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992624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992624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crops are embedded (DINOv2, metric-tuned).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 in the store catalogue (FAISS).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 between top matches gives 'unknown'.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260336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Decide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60336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Per-slot log-odds evidence, weighted by visibility.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decays; contradicting views subtract.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ACT, WAIT or CANNOT SEE.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528048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Act and verify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528048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task: product, slot, quantity, stock location.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before/after crops and the reason.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only when clean views show the slot full.</a:t>
            </a:r>
            <a:endParaRPr lang="en-US" sz="1100" dirty="0"/>
          </a:p>
        </p:txBody>
      </p:sp>
      <p:sp>
        <p:nvSpPr>
          <p:cNvPr id="14" name="Twin box"/>
          <p:cNvSpPr/>
          <p:nvPr/>
        </p:nvSpPr>
        <p:spPr>
          <a:xfrm>
            <a:off x="457200" y="5760720"/>
            <a:ext cx="11277295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5760720"/>
            <a:ext cx="110029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slot we store location, expected product (approved layout version), last trusted observation, state (HEALTHY, LOW, EMPTY, MISPLACED, CANNOT SEE), separate detection / identity / visibility / event confidences, and the full history of state changes linked to the frames that caused them. Any alert can be replayed.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components and deployment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6263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6324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/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capture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RTSP/USB readers; hardware video decode (GStreamer)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0.5-2 fps per camera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and change gate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Laplacian blur, glare ratio, frame differencing per bay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frame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 mask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Person/cart instance segmentation (YOLO-seg, small)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bays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and gap detector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(n/s), two classes, 2 tiles per 1080p frame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bays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 geometry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Shelf-edge lines, homography to shelf cm, slot assignment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camera move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identity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 ViT-S/14 + ArcFace head; FAISS k-NN; margin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slots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and tag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PaddleOCR (mobile); barcode reader for shelf tags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Planogram matcher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Needleman-Wunsch alignment with position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row update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state engine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Visibility-weighted log-odds, decay, hysteresis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observation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ranking, routing, verification, escalation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+ cloud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store and replay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object store for masked crops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+ cloud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dashboard; staff web app; Telegram/WhatsApp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+ 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98932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box: NVIDIA Jetson Orin-class (Orin Nano Super, 67 sparse INT8 TOPS), models exported to ONNX/TensorRT (FP16/INT8). Video stays in the store; only events and masked crops are sent out.</a:t>
            </a:r>
            <a:endParaRPr lang="en-US" sz="1000" dirty="0"/>
          </a:p>
        </p:txBody>
      </p:sp>
      <p:pic>
        <p:nvPicPr>
          <p:cNvPr id="5" name="Figure: store floor plan with cameras and edge box" descr="Figure: store floor plan with cameras and edge 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960120"/>
            <a:ext cx="4828032" cy="33101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903720" y="438912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903720" y="4709160"/>
            <a:ext cx="48280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stream to one in-store edge box over PoE.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box runs the full pipeline and keeps a local task queue.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sync to the cloud twin when the internet is available.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receive tasks on the store Wi-Fi web app or messaging apps.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catalogue and rules are versioned and updated in stages.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1: dense pack and gap detection, mapped to shelf slots</a:t>
            </a:r>
            <a:endParaRPr lang="en-US" sz="2500" dirty="0"/>
          </a:p>
        </p:txBody>
      </p:sp>
      <p:pic>
        <p:nvPicPr>
          <p:cNvPr id="3" name="Figure: SKU-110K detection architecture" descr="Figure: SKU-110K detection 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585216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4505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detection with a Soft-IoU layer and EM-merger to resolve overlapping boxes.</a:t>
            </a:r>
            <a:endParaRPr lang="en-US" sz="900" dirty="0"/>
          </a:p>
        </p:txBody>
      </p:sp>
      <p:pic>
        <p:nvPicPr>
          <p:cNvPr id="5" name="Chart: YOLO accuracy versus latency" descr="Chart: YOLO accuracy versus laten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8920"/>
            <a:ext cx="5852160" cy="2560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537667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latency of recent YOLO versions (COCO, T4 GPU, TensorRT). We choose small variants for the edge.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58521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YOLO models reach 45-48 COCO mAP at about 2-3 ms on a T4 GPU, which leaves headroom for many cameras per edge box.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537960" y="96012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design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537960" y="1280160"/>
            <a:ext cx="5193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Class-agnostic 'pack' class plus an explicit 'gap' class (visible shelf back).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SKU-110K (11,762 images, 147 objects per image on average).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our own store footage and rendered shelves.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frames are split into two 640 px tiles so small packs stay detectable.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Soft-NMS / box merging handles tightly packed, overlapping facings.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537960" y="33375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pixels to slots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3657600"/>
            <a:ext cx="5193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Shelf-edge lines are detected per bay.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homography maps image points to shelf coordinates in centimetres.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pack is assigned to a slot by its centre and width.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coverage = share of the slot face covered by packs.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drift is detected by feature matching to a reference frame; alerts pause until recalibration.</a:t>
            </a:r>
            <a:endParaRPr lang="en-US" sz="1100" dirty="0"/>
          </a:p>
        </p:txBody>
      </p:sp>
      <p:sp>
        <p:nvSpPr>
          <p:cNvPr id="12" name="Occlusion box"/>
          <p:cNvSpPr/>
          <p:nvPr/>
        </p:nvSpPr>
        <p:spPr>
          <a:xfrm>
            <a:off x="6537960" y="5715000"/>
            <a:ext cx="5193792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75120" y="5715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person/cart mask gives each slot a visibility score (0-1). Hidden slots are never marked empty; their evidence is down-weighted instead.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2: product identity by catalogue retrieval, with abstention</a:t>
            </a:r>
            <a:endParaRPr lang="en-US" sz="2500" dirty="0"/>
          </a:p>
        </p:txBody>
      </p:sp>
      <p:pic>
        <p:nvPicPr>
          <p:cNvPr id="3" name="Figure: catalogue matching for a known and a new pack" descr="Figure: catalogue matching for a known and a new p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566928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307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pack crops. Product names and similarity scores are illustrative.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69080"/>
          <a:ext cx="56692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926080"/>
                <a:gridCol w="1874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 ViT-S/14 backbone + ArcFace metric 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features for fine-grained packs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inner-product index over the store catalogue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 k-NN for thousands of SKUs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if top score ≥ 0.75 and margin to runner-up ≥ 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Abstain instead of guessing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Tie-break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text overlap: brand, flavour, 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look-alike variants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crops go to an inbox; staff label once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grows with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9601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retrieval instead of a fixed classifier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280160"/>
            <a:ext cx="5330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add and change products every week. A fixed classifier must be retrained each time.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retrieval, a new product is one catalogue entry: 3-5 photos and its barcode. No retraining.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hard negatives from the same brand, so variants are pushed apart in feature space.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studio pack shots and shelf crops are used, so the catalogue matches real shelf views.</a:t>
            </a:r>
            <a:endParaRPr lang="en-US" sz="1150" dirty="0"/>
          </a:p>
        </p:txBody>
      </p:sp>
      <p:pic>
        <p:nvPicPr>
          <p:cNvPr id="8" name="Eq identity" descr="Equation: ident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310128"/>
            <a:ext cx="5043830" cy="24505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0" y="3657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kept separate from location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6400800" y="3977640"/>
            <a:ext cx="5330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expected product of a slot never boosts the match score.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consistency is a separate signal used only by the decision step.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misplaced pack is not 'corrected' into the expected product, so displacement stays visible.</a:t>
            </a:r>
            <a:endParaRPr lang="en-US" sz="1150" dirty="0"/>
          </a:p>
        </p:txBody>
      </p:sp>
      <p:sp>
        <p:nvSpPr>
          <p:cNvPr id="11" name="Onboard box"/>
          <p:cNvSpPr/>
          <p:nvPr/>
        </p:nvSpPr>
        <p:spPr>
          <a:xfrm>
            <a:off x="6400800" y="5532120"/>
            <a:ext cx="5330952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537960" y="553212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 new product: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unknown crop appears in the manager inbox; staff scan the barcode and take 3-5 photos; embeddings are computed and pushed to every store index within a minute.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3: planogram comparison, restock and displacement alerts</a:t>
            </a:r>
            <a:endParaRPr lang="en-US" sz="2500" dirty="0"/>
          </a:p>
        </p:txBody>
      </p:sp>
      <p:pic>
        <p:nvPicPr>
          <p:cNvPr id="3" name="Figure: planogram comparison on a real shelf photo" descr="Figure: planogram comparison on a real shelf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66928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06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expected layout comes from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5262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Imported: the store's planogram file (CSV/JSON: bay, shelf, x, width, SKU, facings).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Drafted: shelf-tag barcodes/OCR plus stable observations over the first days.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Approved: a manager confirms per bay; only approved versions drive alerts.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Observed, draft and approved layouts stay separate, so a messy shelf is never learned as correct.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simultaneous mismatches in one bay trigger a single 'layout changed?' question, not dozens of alerts.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9144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alignment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234440"/>
            <a:ext cx="5330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slots and observed packs per row are aligned (Needleman-Wunsch).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match, gap (restock), substitution (displacement) or insertion (foreign item).</a:t>
            </a:r>
            <a:endParaRPr lang="en-US" sz="1100" dirty="0"/>
          </a:p>
        </p:txBody>
      </p:sp>
      <p:pic>
        <p:nvPicPr>
          <p:cNvPr id="8" name="Eq align" descr="Equation: alig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38528"/>
            <a:ext cx="3457956" cy="59740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743200"/>
          <a:ext cx="53309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16733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Restock: 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below the slot's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staff, batched per aisle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Restock: empty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product in the slot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Backroom staff, immediately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sits in another product's slot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Chilled item seen on an ambient shelf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staff, top 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for hours while stock system shows units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400800" y="5349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low-stock threshold</a:t>
            </a:r>
            <a:endParaRPr lang="en-US" sz="1400" dirty="0"/>
          </a:p>
        </p:txBody>
      </p:sp>
      <p:pic>
        <p:nvPicPr>
          <p:cNvPr id="11" name="Eq threshold" descr="Equation: thresho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669280"/>
            <a:ext cx="1918106" cy="313792"/>
          </a:xfrm>
          <a:prstGeom prst="rect">
            <a:avLst/>
          </a:prstGeom>
        </p:spPr>
      </p:pic>
      <p:pic>
        <p:nvPicPr>
          <p:cNvPr id="12" name="Eq thrleg" descr="Equation: thrl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5687568"/>
            <a:ext cx="297942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4: temporal state engine (core contribution)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 each slot like a cell in an occupancy grid: every observation adds or removes evidence, weighted by how well the slot was seen.</a:t>
            </a:r>
            <a:endParaRPr lang="en-US" sz="1150" dirty="0"/>
          </a:p>
        </p:txBody>
      </p:sp>
      <p:sp>
        <p:nvSpPr>
          <p:cNvPr id="4" name="Equation box"/>
          <p:cNvSpPr/>
          <p:nvPr/>
        </p:nvSpPr>
        <p:spPr>
          <a:xfrm>
            <a:off x="457200" y="1508760"/>
            <a:ext cx="5120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</p:sp>
      <p:pic>
        <p:nvPicPr>
          <p:cNvPr id="5" name="Eq evidence" descr="Equation: evid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2742514" cy="304724"/>
          </a:xfrm>
          <a:prstGeom prst="rect">
            <a:avLst/>
          </a:prstGeom>
        </p:spPr>
      </p:pic>
      <p:pic>
        <p:nvPicPr>
          <p:cNvPr id="6" name="Eq ell" descr="Equation: 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2770632" cy="597408"/>
          </a:xfrm>
          <a:prstGeom prst="rect">
            <a:avLst/>
          </a:prstGeom>
        </p:spPr>
      </p:pic>
      <p:pic>
        <p:nvPicPr>
          <p:cNvPr id="7" name="Eq evleg" descr="Equation: evl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4692929" cy="633679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93008"/>
          <a:ext cx="5120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(starting default)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(open a task)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≥ 4.0, about 3 clean confirming 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(verify a refill)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≤ −1.0 after the task is in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Hysteresis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enter and exit thresholds stop flicker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SEE shown in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clean view for more than 20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cap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 ≤ L ≤ 8, so old states can be overturned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3"/>
          <p:cNvSpPr txBox="1"/>
          <p:nvPr/>
        </p:nvSpPr>
        <p:spPr>
          <a:xfrm>
            <a:off x="457200" y="55778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confident frame can never trigger a task alone.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 with its inputs, so any alert can be replayed and audited.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tuned per store on recorded footage, not fixed by hand.</a:t>
            </a:r>
            <a:endParaRPr lang="en-US" sz="1050" dirty="0"/>
          </a:p>
        </p:txBody>
      </p:sp>
      <p:pic>
        <p:nvPicPr>
          <p:cNvPr id="10" name="Chart: evidence trace for one slot from the prototype" descr="Chart: evidence trace for one slot from the prototy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914400"/>
            <a:ext cx="5925312" cy="2642616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5806440" y="3584448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output for one slot over 30 minutes. Top: per-frame coverage; grey bands show a shopper blocking. Bottom: evidence L(t). The single-frame detector alerts 17 times; the engine alerts once, when stock really runs low, and clears after the refill.</a:t>
            </a:r>
            <a:endParaRPr lang="en-US" sz="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4389120"/>
          <a:ext cx="59253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286000"/>
                <a:gridCol w="23591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see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is solid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task with photos and reason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seen, evidence still weak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yet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SEE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blocked or frame unusable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trusted state and its 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verified full again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marked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temporal engine evaluated against baselines</a:t>
            </a:r>
            <a:endParaRPr lang="en-US" sz="25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337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simulated observations for every method: 20 runs x 8 hours, 24 slots per camera, 1,452 true restock events. 'Tuned': parameters chosen on separate simulator seeds (100-109), reported on these seeds.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assumptions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06240"/>
            <a:ext cx="6400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 every 2 s; shoppers take 0.5-6 units per slot per hour (Poisson).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block each slot about 25 times per hour for 2-30 s; the detector sees a 'gap' 70% of that time.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mask misses 5% of blocking events entirely; 1% of clean frames read a false gap (glare).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refill 10-40 minutes after a slot needs restock, identically for every method.</a:t>
            </a:r>
            <a:endParaRPr lang="en-US" sz="1100" dirty="0"/>
          </a:p>
        </p:txBody>
      </p:sp>
      <p:sp>
        <p:nvSpPr>
          <p:cNvPr id="7" name="Honest note"/>
          <p:cNvSpPr/>
          <p:nvPr/>
        </p:nvSpPr>
        <p:spPr>
          <a:xfrm>
            <a:off x="457200" y="5852160"/>
            <a:ext cx="640080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585216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test the decision logic on simulated detector outputs. Trained models on real held-out data: next two slides.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086600" y="324612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code (built)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086600" y="3566160"/>
            <a:ext cx="4645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shelftwin/engine + sim/simulate.py: temporal engine, three baselines and the shelf simulator.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in code: quality gate, YOLO11 pack+gap detector, geometry, DINOv2+ArcFace identity, planogram alignment, tasks, dashboard.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automated tests; one Kaggle notebook trains, evaluates and error-analyses every model.</a:t>
            </a:r>
            <a:endParaRPr lang="en-US" sz="1100" dirty="0"/>
          </a:p>
        </p:txBody>
      </p:sp>
      <p:sp>
        <p:nvSpPr>
          <p:cNvPr id="12" name="Repo box"/>
          <p:cNvSpPr/>
          <p:nvPr/>
        </p:nvSpPr>
        <p:spPr>
          <a:xfrm>
            <a:off x="7086600" y="4892040"/>
            <a:ext cx="4645152" cy="1618488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269480" y="5010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1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7269480" y="5285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github.com/Purv-Kabaria/shelftwin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5715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pytest -q  ·  python sim/simulate.py 20. Training logs: </a:t>
            </a:r>
            <a:r>
              <a:rPr sz="1050">
                <a:latin typeface="Calibri"/>
                <a:hlinkClick r:id="rId6"/>
              </a:rPr>
              <a:t>kaggle.com/code/purv2k2/notebook77852dc329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57200" y="96012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34440"/>
                <a:gridCol w="777240"/>
                <a:gridCol w="685800"/>
                <a:gridCol w="822960"/>
                <a:gridCol w="868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alerts / camera-hour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delay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95th pct delay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965.86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Single-frame + person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376.43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vote 3 of 5 +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ShelfTwin engine (spec defaults)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ShelfTwin engine (tuned)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086600" y="868680"/>
          <a:ext cx="4645152" cy="252374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workflow: every alert says what, where, why, and is verified</a:t>
            </a:r>
            <a:endParaRPr lang="en-US" sz="2500" dirty="0"/>
          </a:p>
        </p:txBody>
      </p:sp>
      <p:pic>
        <p:nvPicPr>
          <p:cNvPr id="3" name="Mock-up of the staff alert" descr="Mock-up of the staff 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12064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440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the staff alert. Real shelf crops; the gap is simulated.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7607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web app on store Wi-Fi (works offline), Telegram, WhatsApp.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English, Hindi and Gujarati in the final build.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'Wrong alert' taps become labelled training data.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914400"/>
          <a:ext cx="59253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286000"/>
                <a:gridCol w="24048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Entered 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outputs 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tap 'I am on it'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accept the 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check in at the bay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at bay + app check-in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mark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mark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views show slot full (CLEAR)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or photo confirms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state; time-to-fix recorded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Reopened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still empty after time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to Open with a 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806440" y="3886200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</a:t>
            </a:r>
            <a:endParaRPr lang="en-US" sz="1400" dirty="0"/>
          </a:p>
        </p:txBody>
      </p:sp>
      <p:pic>
        <p:nvPicPr>
          <p:cNvPr id="8" name="Eq priority" descr="Equation: prior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187952"/>
            <a:ext cx="2712263" cy="271424"/>
          </a:xfrm>
          <a:prstGeom prst="rect">
            <a:avLst/>
          </a:prstGeom>
        </p:spPr>
      </p:pic>
      <p:pic>
        <p:nvPicPr>
          <p:cNvPr id="9" name="Eq prileg" descr="Equation: pril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4572000"/>
            <a:ext cx="5557266" cy="443789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806440" y="5120640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Alert-fatigue controls</a:t>
            </a:r>
            <a:endParaRPr lang="en-US" sz="1400" dirty="0"/>
          </a:p>
        </p:txBody>
      </p:sp>
      <p:sp>
        <p:nvSpPr>
          <p:cNvPr id="11" name="Text 5"/>
          <p:cNvSpPr txBox="1"/>
          <p:nvPr/>
        </p:nvSpPr>
        <p:spPr>
          <a:xfrm>
            <a:off x="5806440" y="5440680"/>
            <a:ext cx="5925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and cold-chain tasks go at once; low-stock tasks batch every 15 minutes per aisle.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has a cap on open tasks; extra tasks queue nearest-first.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'Snooze with reason' (e.g. delivery due at 16:00); unanswered tasks escalate after 10 minutes.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strategy: no dependence on organiser-provided data</a:t>
            </a:r>
            <a:endParaRPr lang="en-US" sz="2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23160"/>
                <a:gridCol w="1965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SKU-110K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11,762 dense shelf images, 1.73M boxes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detector pre-training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50,394 images, 1.9M instances, 140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and robustness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2,388 SKUs, about 500k product crops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learning for identity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Retail-786k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786k images, 3,298 product groups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Look-alike training pairs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Unitail-OCR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1,454 products, 30k text regions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text 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store capture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and camera video of local stores, with permission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Fine-tuning, catalogue, test 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Rendered shelves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Shelves rendered from our pack photos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events: gaps, misplacement, glare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 without hand-drawing every box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0749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teachers (Grounding DINO, SAM 2) propose boxes and masks.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kept only where two teachers agree; a sample is checked by hand.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feedback ('wrong alert', unknown-pack labels) becomes new training data.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and edited images are used for training only, never for testing.</a:t>
            </a:r>
            <a:endParaRPr lang="en-US" sz="1150" dirty="0"/>
          </a:p>
        </p:txBody>
      </p:sp>
      <p:pic>
        <p:nvPicPr>
          <p:cNvPr id="6" name="Table: SKU-110K compared with other detection datasets" descr="Table: SKU-110K compared with other detection datas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960120"/>
            <a:ext cx="5148072" cy="19751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0" y="2962656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SKU-110K has about 147 objects per image, far denser than COCO (7.7). </a:t>
            </a:r>
            <a:endParaRPr lang="en-US" sz="900" dirty="0"/>
          </a:p>
        </p:txBody>
      </p:sp>
      <p:pic>
        <p:nvPicPr>
          <p:cNvPr id="8" name="Rendered synthetic shelf" descr="Rendered synthetic shel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429000"/>
            <a:ext cx="2514600" cy="1417320"/>
          </a:xfrm>
          <a:prstGeom prst="rect">
            <a:avLst/>
          </a:prstGeom>
        </p:spPr>
      </p:pic>
      <p:pic>
        <p:nvPicPr>
          <p:cNvPr id="9" name="Figure: Grounding DINO open-set detection" descr="Figure: Grounding DINO open-set detec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3429000"/>
            <a:ext cx="2514600" cy="1399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583680" y="489204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rendered synthetic shelf. Right: open-set detection by Grounding DINO.</a:t>
            </a:r>
            <a:endParaRPr lang="en-US" sz="900" dirty="0"/>
          </a:p>
        </p:txBody>
      </p:sp>
      <p:sp>
        <p:nvSpPr>
          <p:cNvPr id="11" name="Text 5"/>
          <p:cNvSpPr txBox="1"/>
          <p:nvPr/>
        </p:nvSpPr>
        <p:spPr>
          <a:xfrm>
            <a:off x="6583680" y="525780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splits that prevent over-optimism</a:t>
            </a:r>
            <a:endParaRPr lang="en-US" sz="1400" dirty="0"/>
          </a:p>
        </p:txBody>
      </p:sp>
      <p:sp>
        <p:nvSpPr>
          <p:cNvPr id="12" name="Text 6"/>
          <p:cNvSpPr txBox="1"/>
          <p:nvPr/>
        </p:nvSpPr>
        <p:spPr>
          <a:xfrm>
            <a:off x="6583680" y="5577840"/>
            <a:ext cx="5148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sessions; unseen days and lighting; unseen stores.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cases: look-alikes, multipacks, old vs new packs, half-hidden packs.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feasibility and scalability</a:t>
            </a:r>
            <a:endParaRPr lang="en-US" sz="2500" dirty="0"/>
          </a:p>
        </p:txBody>
      </p:sp>
      <p:pic>
        <p:nvPicPr>
          <p:cNvPr id="3" name="Chart: per-frame latency budget" descr="Chart: per-frame latency bu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669280" cy="2505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4381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estimates for the final build; to be measured on hardware.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5669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00200"/>
                <a:gridCol w="2331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Sizing 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per 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46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budget above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capacity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20 frames/s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ms / 46 ms, with headroom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Cameras per 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0.5-1 frame/s per camera, change-gated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per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200 MB/day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+ masked crops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 TB SSD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 replay buffer + crops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9893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gating: heavy models run only on bays whose pixels changed, so quiet aisles cost almost nothing.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9144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400800" y="1234440"/>
            <a:ext cx="5330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are open-source and proven on edge GPUs (YOLO, DINOv2-S, PaddleOCR mobile).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three camera types; existing CCTV gives bay-level alerts at zero hardware cost.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planogram, no inventory system and no internet are required to start.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set-up: mount cameras, walk each aisle once, approve the drafted layout.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32004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3520440"/>
            <a:ext cx="5330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scales per store, so head-office cost grows slowly.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product catalogue; each store loads only its own range.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catalogue, layouts and rules are versioned separately, rolled out to 1%, 10%, then all stores, with automatic rollback.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cloud (row-level security) or private deployment for large chains.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twin extends to pharmacies, dark stores and warehouses.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5532120"/>
          <a:ext cx="53309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139903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CCTV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Bay-level gaps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Shelf-edge camera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Product-level, real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walk-through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Product-level snapshots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and return on investment (mid-size Indian supermarket)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667512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86868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 (Rs)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GPU box, installed (Jetson Orin class, case, SSD, UPS)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45,000-70,000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45,000-70,000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Shelf-edge camera, installed (incl. cabling, mount)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6,000-12,000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1.2-2.4 lakh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 switch and network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20,000-35,000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20,000-35,000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CCTV reuse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1.9-3.5 lakh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twin, storage, messaging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15,000-30,000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subscription and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lakh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(10-15% of hardware)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20,000-50,000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estimates; to be confirmed with supplier quotes. Phone-only and CCTV-only modes need no new hardware.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9834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levers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30352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cameras only on the 20-30% of bays that carry most sales; CCTV or phones elsewhere.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gating lets one box serve more cameras.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can be leased inside the subscription to remove upfront cost.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96012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280160"/>
          <a:ext cx="4325112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0848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10 crore /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to out-of-stocks (3-4%)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30-40 lakh /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 (assume 25-50%)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7.5-20 lakh /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20-25%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1.5-5 lakh profit /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staff hours saved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Audits replaced by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6-24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406640" y="4206240"/>
            <a:ext cx="4325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share is an assumption. Vendor case studies report on-shelf availability gains of 25-60%, which a pilot must confirm for Indian stores.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406640" y="498348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value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406640" y="5303520"/>
            <a:ext cx="4325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shelf data improves ordering.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price and placement errors.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compliance data with consent.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security and limitations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video never leaves the store.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hands, phones and badges are masked in every saved crop.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face recognition, no re-identification, no tracking of people.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kept 30 days by default; replay frames 72 hours.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metrics are team-level, not individual.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deployment is reviewed under India's DPDP Act 2023 and Rules 2025.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2801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box makes outbound connections only; no open ports.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TLS between store and cloud; per-device certificates.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model and software updates; secure boot.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disks; role-based access; every crop view logged.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network isolated on its own VLAN.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96012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version 1 does not claim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280160"/>
            <a:ext cx="3502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unit counts or store-wide inventory.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planogram changes or ordering.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separation of near-identical packs (it abstains).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identity from wide ceiling CCTV.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depletion is not called 'sales' without billing data.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1127729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651760"/>
                <a:gridCol w="33192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the store?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can see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video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(memory 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frames (people masked)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admin, on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crops (people masked)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with events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and HQ roles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and task records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and HQ roles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and system telemetry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 and the planned final build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7406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prototype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the final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state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and tested; tuned on held-out simulator seeds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on real footage; per-store thresholds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 and simulator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Built, with false-alert error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with recorded real detections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and gap detector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Built: YOLO11 training on SKU-110K (Kaggle); gap labels from shelf geometry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 on Indian-store footage; TensorRT on 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 mask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with a pretrained person segmenter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 for carts and baskets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Built: DINOv2 + ArcFace training on RP2K; FAISS; abstention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pack catalogue (3-5 photos per SKU); OCR tie-break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Planogram matcher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and tested (row alignment, layout guard)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drafting from shelf tags; approval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and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Built: priority, batching, escalation, camera verification; Telegram; en/hi/gu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mobile app, WhatsApp 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Built: live slot view, tasks, alert replay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Store-wide, multi-camera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Backroom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location carried in every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camera; pick location from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Time-to-empty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1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Built: Gamma-Poisson estimate with a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billing data when connected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92440" y="9601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build: what it will show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092440" y="1280160"/>
            <a:ext cx="36393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shelf with 60-80 real Indian SKUs and 3-4 cameras.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block views; the baseline raises false alerts while ShelfTwin waits.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low-stock alert in Hindi names the backroom rack.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refill is verified by the camera and the task closes.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unseen pack is flagged 'unknown' and added in a minute.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38404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we will report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4160520"/>
            <a:ext cx="3639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precision and recall per episode.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per camera-hour.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notification delay.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'unknown' rate on new packs.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per box at full speed.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54406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risks and mitigation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5760720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packs: abstain and ask staff.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Low-resolution CCTV: bay-level alerts only.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moved: drift check pauses alerts.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553212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T. W. Gruen, D. S. Corsten, S. Bharadwaj. Retail Out-of-Stocks: A Worldwide Examination of Extent, Causes and Consumer Responses. Grocery Manufacturers of America, 2002.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D. Corsten, T. Gruen. Desperately seeking shelf availability: an examination of the extent, the causes, and the efforts to address retail out-of-stocks. IJRDM 31(12), 2003.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E. Goldman, R. Herzig, A. Eisenschtat, J. Goldberger, T. Hassner. Precise Detection in Densely Packed Scenes (SKU-110K). CVPR 2019.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Y. Cai et al. Rethinking Object Detection in Retail Stores (Locount). AAAI 2021.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F. Chen et al. Unitail: Detecting, Reading, and Matching in Retail Scene. ECCV 2022.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J. Peng, C. Xiao, Y. Li. RP2K: A Large-Scale Retail Product Dataset for Fine-Grained Image Classification. arXiv:2006.12634, 2020.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B. Lamm, J. Keuper. Retail-786k: a Large-Scale Dataset for Visual Entity Matching. arXiv:2309.17164, 2023.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T.-Y. Ou, A. Ponce, C. Lee, A. Wu. Real-time retail planogram compliance application using computer vision and virtual shelves. Scientific Reports 15, 43898, 2025.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M. Oquab et al. DINOv2: Learning Robust Visual Features without Supervision. TMLR, 2024.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G. Jocher et al. Ultralytics YOLO (YOLOv8, YOLO11, YOLO26). Software and benchmarks, github.com/ultralytics/ultralytics.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J. Deng, J. Guo, N. Xue, S. Zafeiriou. ArcFace: Additive Angular Margin Loss for Deep Face Recognition. CVPR 2019.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J. Johnson, M. Douze, H. Jegou. Billion-scale similarity search with GPUs (FAISS). IEEE Trans. Big Data, 2019.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199632" y="914400"/>
            <a:ext cx="553212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S. B. Needleman, C. D. Wunsch. A general method applicable to the search for similarities in the amino acid sequence of two proteins. J. Mol. Biol. 48(3), 1970.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H. Moravec, A. Elfes. High resolution maps from wide angle sonar. IEEE ICRA, 1985.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S. Liu et al. Grounding DINO: Marrying DINO with Grounded Pre-Training for Open-Set Object Detection. ECCV 2024.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Y. Du et al. PP-OCR: A Practical Ultra Lightweight OCR System. arXiv:2009.09941, 2020 (PaddleOCR).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Neurolabs. CPGDet-129: Synthetic Dataset for Object Detection in Retail. github.com/neurolaboratories/reshelf-detection, 2022.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M. Denninger et al. BlenderProc2: A Procedural Pipeline for Photorealistic Rendering. JOSS 8(82), 2023.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NVIDIA. Jetson Orin Nano Developer Kit Gets a Super Boost. NVIDIA Technical Blog, December 2024.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N. Ravi et al. SAM 2: Segment Anything in Images and Videos. arXiv:2408.00714, 2024.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 Simbe Robotics. Wakefern Food Corp. customer story (on-shelf availability results). simberobotics.com, accessed 2026.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 Everseen. Evershelf product page; Everseen expanded product suite incl. Everstock (press release, Jan 2023).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[23] Ministry of Electronics and IT, Government of India. Digital Personal Data Protection Rules, 2025 (notified November 2025).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457200" y="256032"/>
            <a:ext cx="11277295" cy="548640"/>
          </a:xfrm>
        </p:spPr>
        <p:txBody>
          <a:bodyPr wrap="square" lIns="0" tIns="0" rIns="0" bIns="0" rtlCol="0" anchor="t"/>
          <a:lstStyle/>
          <a:p>
            <a:r>
              <a:rPr sz="2500" b="1">
                <a:solidFill>
                  <a:schemeClr val="tx1"/>
                </a:solidFill>
                <a:latin typeface="Calibri"/>
              </a:rPr>
              <a:t>Real data: what the data told us before training</a:t>
            </a: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960120"/>
          <a:ext cx="6400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00200"/>
                <a:gridCol w="2880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it drove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Packs per shelf photo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147, max 718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up to 1000 detections; YOLO11 with NMS (YOLO26 stops at 300)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Packs under 16 px at the training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px: 40.7%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896 px: 17.7%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px: 11.7%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640 px; compare 896 and 1024 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 with a real shelf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 (5.4 per photo)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and test the gap class on real gaps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RP2K product photos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2,233 SKUs, 381k photos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Open-set split by SKU; cap 40 photos per SKU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false alerts (simulation)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of 19 involve a missed person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the person/cart mask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" name="Picture 14" descr="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75068"/>
            <a:ext cx="6400800" cy="1788223"/>
          </a:xfrm>
          <a:prstGeom prst="rect">
            <a:avLst/>
          </a:prstGeom>
        </p:spPr>
      </p:pic>
      <p:sp>
        <p:nvSpPr>
          <p:cNvPr id="16" name="Text 1"/>
          <p:cNvSpPr txBox="1"/>
          <p:nvPr/>
        </p:nvSpPr>
        <p:spPr>
          <a:xfrm>
            <a:off x="457200" y="5852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SKU-110K photos (Kaggle run). Green: annotated packs. Red: gaps found by our shelf-row rule; most are real empty spaces, some are structural (shelf ends).</a:t>
            </a:r>
            <a:endParaRPr lang="en-US" sz="1050" dirty="0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086600" y="868680"/>
          <a:ext cx="4645152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086600" y="3383280"/>
          <a:ext cx="4645152" cy="2423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 1"/>
          <p:cNvSpPr txBox="1"/>
          <p:nvPr/>
        </p:nvSpPr>
        <p:spPr>
          <a:xfrm>
            <a:off x="7086600" y="585216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all 11,689 SKU-110K photos and 381,303 RP2K photos; engine sweep on 4 x 4 h of simulation.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457200" y="256032"/>
            <a:ext cx="11277295" cy="548640"/>
          </a:xfrm>
        </p:spPr>
        <p:txBody>
          <a:bodyPr wrap="square" lIns="0" tIns="0" rIns="0" bIns="0" rtlCol="0" anchor="t"/>
          <a:lstStyle/>
          <a:p>
            <a:r>
              <a:rPr sz="2500" b="1">
                <a:solidFill>
                  <a:schemeClr val="tx1"/>
                </a:solidFill>
                <a:latin typeface="Calibri"/>
              </a:rPr>
              <a:t>Trained models: results on held-out real data</a:t>
            </a:r>
          </a:p>
        </p:txBody>
      </p:sp>
      <p:sp>
        <p:nvSpPr>
          <p:cNvPr id="13" name="Repo box"/>
          <p:cNvSpPr/>
          <p:nvPr/>
        </p:nvSpPr>
        <p:spPr>
          <a:xfrm>
            <a:off x="457200" y="914400"/>
            <a:ext cx="2688336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4" name="TextBox 13"/>
          <p:cNvSpPr txBox="1"/>
          <p:nvPr/>
        </p:nvSpPr>
        <p:spPr>
          <a:xfrm>
            <a:off x="594360" y="1005840"/>
            <a:ext cx="241401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7F7F7F"/>
                </a:solidFill>
                <a:latin typeface="Calibri"/>
              </a:rPr>
              <a:t>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536192"/>
            <a:ext cx="24140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41414"/>
                </a:solidFill>
                <a:latin typeface="Calibri"/>
              </a:rPr>
              <a:t>Pack detection mAP50</a:t>
            </a:r>
          </a:p>
          <a:p>
            <a:r>
              <a:rPr sz="950">
                <a:solidFill>
                  <a:schemeClr val="accent5"/>
                </a:solidFill>
                <a:latin typeface="Calibri"/>
              </a:rPr>
              <a:t>SKU-110K test split (2,920 photos)</a:t>
            </a:r>
          </a:p>
        </p:txBody>
      </p:sp>
      <p:sp>
        <p:nvSpPr>
          <p:cNvPr id="16" name="Repo box"/>
          <p:cNvSpPr/>
          <p:nvPr/>
        </p:nvSpPr>
        <p:spPr>
          <a:xfrm>
            <a:off x="3328416" y="914400"/>
            <a:ext cx="2688336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17" name="TextBox 16"/>
          <p:cNvSpPr txBox="1"/>
          <p:nvPr/>
        </p:nvSpPr>
        <p:spPr>
          <a:xfrm>
            <a:off x="3465576" y="1005840"/>
            <a:ext cx="241401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7F7F7F"/>
                </a:solidFill>
                <a:latin typeface="Calibri"/>
              </a:rPr>
              <a:t>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1536192"/>
            <a:ext cx="24140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41414"/>
                </a:solidFill>
                <a:latin typeface="Calibri"/>
              </a:rPr>
              <a:t>Gap recall at 90% precision</a:t>
            </a:r>
          </a:p>
          <a:p>
            <a:r>
              <a:rPr sz="950">
                <a:solidFill>
                  <a:schemeClr val="accent5"/>
                </a:solidFill>
                <a:latin typeface="Calibri"/>
              </a:rPr>
              <a:t>real gaps on unseen shelf photos</a:t>
            </a:r>
          </a:p>
        </p:txBody>
      </p:sp>
      <p:sp>
        <p:nvSpPr>
          <p:cNvPr id="19" name="Repo box"/>
          <p:cNvSpPr/>
          <p:nvPr/>
        </p:nvSpPr>
        <p:spPr>
          <a:xfrm>
            <a:off x="6199632" y="914400"/>
            <a:ext cx="2688336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20" name="TextBox 19"/>
          <p:cNvSpPr txBox="1"/>
          <p:nvPr/>
        </p:nvSpPr>
        <p:spPr>
          <a:xfrm>
            <a:off x="6336792" y="1005840"/>
            <a:ext cx="241401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7F7F7F"/>
                </a:solidFill>
                <a:latin typeface="Calibri"/>
              </a:rPr>
              <a:t>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1536192"/>
            <a:ext cx="24140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41414"/>
                </a:solidFill>
                <a:latin typeface="Calibri"/>
              </a:rPr>
              <a:t>Product identity Recall@1</a:t>
            </a:r>
          </a:p>
          <a:p>
            <a:r>
              <a:rPr sz="950">
                <a:solidFill>
                  <a:schemeClr val="accent5"/>
                </a:solidFill>
                <a:latin typeface="Calibri"/>
              </a:rPr>
              <a:t>SKUs never seen in training (open set)</a:t>
            </a:r>
          </a:p>
        </p:txBody>
      </p:sp>
      <p:sp>
        <p:nvSpPr>
          <p:cNvPr id="22" name="Repo box"/>
          <p:cNvSpPr/>
          <p:nvPr/>
        </p:nvSpPr>
        <p:spPr>
          <a:xfrm>
            <a:off x="9070848" y="914400"/>
            <a:ext cx="2688336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  <p:txBody>
          <a:bodyPr/>
          <a:p/>
        </p:txBody>
      </p:sp>
      <p:sp>
        <p:nvSpPr>
          <p:cNvPr id="23" name="TextBox 22"/>
          <p:cNvSpPr txBox="1"/>
          <p:nvPr/>
        </p:nvSpPr>
        <p:spPr>
          <a:xfrm>
            <a:off x="9208008" y="1005840"/>
            <a:ext cx="241401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7F7F7F"/>
                </a:solidFill>
                <a:latin typeface="Calibri"/>
              </a:rP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1536192"/>
            <a:ext cx="24140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41414"/>
                </a:solidFill>
                <a:latin typeface="Calibri"/>
              </a:rPr>
              <a:t>False alerts: ShelfTwin vs single-frame</a:t>
            </a:r>
          </a:p>
          <a:p>
            <a:r>
              <a:rPr sz="950">
                <a:solidFill>
                  <a:schemeClr val="accent5"/>
                </a:solidFill>
                <a:latin typeface="Calibri"/>
              </a:rPr>
              <a:t>end-to-end demo on a real shelf photo</a:t>
            </a:r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457200" y="2423160"/>
          <a:ext cx="64008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834640"/>
                <a:gridCol w="1325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(subset, short schedule)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compared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Detector: model x resolution x mosaic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 n/s; 896 vs 1024 px; mosaic on/off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labels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gaps only vs + synthetic erasing vs shelf-back fill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Identity: fine-tuning 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vs head only vs last 2 / 4 blocks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1"/>
          <p:cNvSpPr txBox="1"/>
          <p:nvPr/>
        </p:nvSpPr>
        <p:spPr>
          <a:xfrm>
            <a:off x="457200" y="4572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experiment ran on a small subset with a short schedule; winners were picked automatically (decision_*.json) and used for the final training on the full data.</a:t>
            </a:r>
            <a:endParaRPr lang="en-US" sz="1050" dirty="0"/>
          </a:p>
        </p:txBody>
      </p:sp>
      <p:sp>
        <p:nvSpPr>
          <p:cNvPr id="27" name="Text 3"/>
          <p:cNvSpPr txBox="1"/>
          <p:nvPr/>
        </p:nvSpPr>
        <p:spPr>
          <a:xfrm>
            <a:off x="457200" y="50292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per model: misses by pack size and shelf density, counting error, confused SKU pairs, precision vs coverage.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 reproducible from the public Kaggle notebook and the repository.</a:t>
            </a:r>
            <a:endParaRPr lang="en-US" sz="1100" dirty="0"/>
          </a:p>
        </p:txBody>
      </p:sp>
      <p:sp>
        <p:nvSpPr>
          <p:cNvPr id="28" name="Text 2"/>
          <p:cNvSpPr txBox="1"/>
          <p:nvPr/>
        </p:nvSpPr>
        <p:spPr>
          <a:xfrm>
            <a:off x="7086600" y="242316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</a:t>
            </a:r>
            <a:endParaRPr lang="en-US" sz="1400" dirty="0"/>
          </a:p>
        </p:txBody>
      </p:sp>
      <p:sp>
        <p:nvSpPr>
          <p:cNvPr id="29" name="Text 3"/>
          <p:cNvSpPr txBox="1"/>
          <p:nvPr/>
        </p:nvSpPr>
        <p:spPr>
          <a:xfrm>
            <a:off x="7086600" y="2743200"/>
            <a:ext cx="4645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runs the full pipeline: quality gate, person mask, trained pack+gap detector, identity, planogram alignment, temporal engine, tasks.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episode on a real shelf photo: a product runs out, shoppers block the view, glare, two products are swapped, a refill is verified.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and video: results pending (training run in progress).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elfTwin Submission">
  <a:themeElements>
    <a:clrScheme name="ShelfTwin Submission">
      <a:dk1>
        <a:srgbClr val="141414"/>
      </a:dk1>
      <a:lt1>
        <a:srgbClr val="FFFFFF"/>
      </a:lt1>
      <a:dk2>
        <a:srgbClr val="141414"/>
      </a:dk2>
      <a:lt2>
        <a:srgbClr val="F3F4F6"/>
      </a:lt2>
      <a:accent1>
        <a:srgbClr val="141414"/>
      </a:accent1>
      <a:accent2>
        <a:srgbClr val="808080"/>
      </a:accent2>
      <a:accent3>
        <a:srgbClr val="404040"/>
      </a:accent3>
      <a:accent4>
        <a:srgbClr val="404040"/>
      </a:accent4>
      <a:accent5>
        <a:srgbClr val="5E5E5E"/>
      </a:accent5>
      <a:accent6>
        <a:srgbClr val="3A3A3A"/>
      </a:accent6>
      <a:hlink>
        <a:srgbClr val="141414"/>
      </a:hlink>
      <a:folHlink>
        <a:srgbClr val="141414"/>
      </a:folHlink>
    </a:clrScheme>
    <a:fontScheme name="ShelfTwin Submiss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ShelfTwin</dc:title>
  <dc:subject>PptxGenJS Presentation</dc:subject>
  <dc:creator>Team ShelfTwin, SVNIT Surat</dc:creator>
  <cp:lastModifiedBy>Team ShelfTwin, SVNIT Surat</cp:lastModifiedBy>
  <cp:revision>1</cp:revision>
  <dcterms:created xsi:type="dcterms:W3CDTF">2026-10-07T16:32:34Z</dcterms:created>
  <dcterms:modified xsi:type="dcterms:W3CDTF">2026-10-07T16:32:34Z</dcterms:modified>
</cp:coreProperties>
</file>